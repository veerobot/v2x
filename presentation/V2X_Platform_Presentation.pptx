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737360"/>
            <a:ext cx="73152" cy="2377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4B8A6"/>
                </a:solidFill>
              </a:rPr>
              <a:t>V2X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Autonomous Emergency
Vehicle Priority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Authenticated V2X emergency signalling — from cryptographic session
establishment to physical lane evasion — on real autonomous robots,
on real hardware, with no simulation.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1737360" cy="292608"/>
          </a:xfrm>
          <a:prstGeom prst="rect">
            <a:avLst/>
          </a:prstGeom>
          <a:solidFill>
            <a:srgbClr val="061027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422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Applied Cryptography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5440680"/>
            <a:ext cx="1737360" cy="292608"/>
          </a:xfrm>
          <a:prstGeom prst="rect">
            <a:avLst/>
          </a:prstGeom>
          <a:solidFill>
            <a:srgbClr val="031E1B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5422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</a:rPr>
              <a:t>Computer Vision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5440680"/>
            <a:ext cx="1737360" cy="292608"/>
          </a:xfrm>
          <a:prstGeom prst="rect">
            <a:avLst/>
          </a:prstGeom>
          <a:solidFill>
            <a:srgbClr val="281A03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5422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Embedded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5440680"/>
            <a:ext cx="1737360" cy="292608"/>
          </a:xfrm>
          <a:prstGeom prst="rect">
            <a:avLst/>
          </a:prstGeom>
          <a:solidFill>
            <a:srgbClr val="05200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5422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Autonomous Robotics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5440680"/>
            <a:ext cx="1737360" cy="292608"/>
          </a:xfrm>
          <a:prstGeom prst="rect">
            <a:avLst/>
          </a:prstGeom>
          <a:solidFill>
            <a:srgbClr val="270707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5422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V2X Networking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Siliris Technologies Pvt. Ltd.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What You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332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6459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</a:rPr>
              <a:t>An emergency vehicle approaches from behind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89280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It cryptographically authenticates itself with a roadside unit.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915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3042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</a:rPr>
              <a:t>Roadside unit issues a signed emergency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55117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Encrypted broadcast sent to all vehicles on the subnet.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62656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499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96265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</a:rPr>
              <a:t>Car cross-checks the ambulance's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20954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Direct Pi-to-Pi UDP — no laptop needed. Decides autonomously to yield.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21024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083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6210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</a:rPr>
              <a:t>Car moves to the inner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8679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Ambulance passes. Car recovers and resumes speed.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1572768"/>
            <a:ext cx="4754880" cy="3749039"/>
          </a:xfrm>
          <a:prstGeom prst="rect">
            <a:avLst/>
          </a:prstGeom>
          <a:solidFill>
            <a:srgbClr val="06090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691640"/>
            <a:ext cx="43891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TRACK LAYOUT</a:t>
            </a:r>
          </a:p>
          <a:p>
            <a:r>
              <a:rPr sz="1000">
                <a:solidFill>
                  <a:srgbClr val="7DD3FC"/>
                </a:solidFill>
              </a:rPr>
              <a:t/>
            </a:r>
          </a:p>
          <a:p>
            <a:r>
              <a:rPr sz="1000">
                <a:solidFill>
                  <a:srgbClr val="7DD3FC"/>
                </a:solidFill>
              </a:rPr>
              <a:t>  ┌────────────────────────┐</a:t>
            </a:r>
          </a:p>
          <a:p>
            <a:r>
              <a:rPr sz="1000">
                <a:solidFill>
                  <a:srgbClr val="7DD3FC"/>
                </a:solidFill>
              </a:rPr>
              <a:t>  │  outer yellow boundary │</a:t>
            </a:r>
          </a:p>
          <a:p>
            <a:r>
              <a:rPr sz="1000">
                <a:solidFill>
                  <a:srgbClr val="7DD3FC"/>
                </a:solidFill>
              </a:rPr>
              <a:t>  │  ┌──────────────────┐  │</a:t>
            </a:r>
          </a:p>
          <a:p>
            <a:r>
              <a:rPr sz="1000">
                <a:solidFill>
                  <a:srgbClr val="7DD3FC"/>
                </a:solidFill>
              </a:rPr>
              <a:t>  │  │  white oval lane │  │</a:t>
            </a:r>
          </a:p>
          <a:p>
            <a:r>
              <a:rPr sz="1000">
                <a:solidFill>
                  <a:srgbClr val="7DD3FC"/>
                </a:solidFill>
              </a:rPr>
              <a:t>  │  │  ┌────────────┐  │  │</a:t>
            </a:r>
          </a:p>
          <a:p>
            <a:r>
              <a:rPr sz="1000">
                <a:solidFill>
                  <a:srgbClr val="F59E0B"/>
                </a:solidFill>
              </a:rPr>
              <a:t>  │  │  │yellow inner│  │  │</a:t>
            </a:r>
          </a:p>
          <a:p>
            <a:r>
              <a:rPr sz="1000">
                <a:solidFill>
                  <a:srgbClr val="7DD3FC"/>
                </a:solidFill>
              </a:rPr>
              <a:t>  │  │  │island      │  │  │</a:t>
            </a:r>
          </a:p>
          <a:p>
            <a:r>
              <a:rPr sz="1000">
                <a:solidFill>
                  <a:srgbClr val="7DD3FC"/>
                </a:solidFill>
              </a:rPr>
              <a:t>  │  │  │(yield zone)│  │  │</a:t>
            </a:r>
          </a:p>
          <a:p>
            <a:r>
              <a:rPr sz="1000">
                <a:solidFill>
                  <a:srgbClr val="7DD3FC"/>
                </a:solidFill>
              </a:rPr>
              <a:t>  │  │  └────────────┘  │  │</a:t>
            </a:r>
          </a:p>
          <a:p>
            <a:r>
              <a:rPr sz="1000">
                <a:solidFill>
                  <a:srgbClr val="7DD3FC"/>
                </a:solidFill>
              </a:rPr>
              <a:t>  │  └──────────────────┘  │</a:t>
            </a:r>
          </a:p>
          <a:p>
            <a:r>
              <a:rPr sz="1000">
                <a:solidFill>
                  <a:srgbClr val="7DD3FC"/>
                </a:solidFill>
              </a:rPr>
              <a:t>  └────────────────────────┘</a:t>
            </a:r>
          </a:p>
          <a:p>
            <a:r>
              <a:rPr sz="1000">
                <a:solidFill>
                  <a:srgbClr val="7DD3FC"/>
                </a:solidFill>
              </a:rPr>
              <a:t/>
            </a:r>
          </a:p>
          <a:p>
            <a:r>
              <a:rPr sz="1000">
                <a:solidFill>
                  <a:srgbClr val="22C55E"/>
                </a:solidFill>
              </a:rPr>
              <a:t>  → Clockwise direction of travel</a:t>
            </a:r>
          </a:p>
          <a:p>
            <a:r>
              <a:rPr sz="1000">
                <a:solidFill>
                  <a:srgbClr val="22C55E"/>
                </a:solidFill>
              </a:rPr>
              <a:t>  → 10 ft × 12 ft arena</a:t>
            </a:r>
          </a:p>
          <a:p>
            <a:r>
              <a:rPr sz="1000">
                <a:solidFill>
                  <a:srgbClr val="22C55E"/>
                </a:solidFill>
              </a:rPr>
              <a:t>  → 10 AprilTag zones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5413248"/>
            <a:ext cx="4754880" cy="1188720"/>
          </a:xfrm>
          <a:prstGeom prst="rect">
            <a:avLst/>
          </a:prstGeom>
          <a:solidFill>
            <a:srgbClr val="06091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5577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No human presses a button at any stage   ·   No simulation   ·   9.4 ms auth latency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The Wolf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2743200" cy="48920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</a:rPr>
              <a:t>🤖  Chassis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Powder-coated aluminium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8716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High-grip wheels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529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Ring-lit camera 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1868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Purpose-built — not a dev kit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2152" y="1572768"/>
            <a:ext cx="2743200" cy="48920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572768"/>
            <a:ext cx="27432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691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</a:rPr>
              <a:t>⚡  Motor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12140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Custom STM32F405 PCB (designed &amp; fabricated)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48716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RTOS — guaranteed 20 Hz control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8529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Hardware encoders on all 4 wheels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21868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Lyra binary protocol over UART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9944" y="1572768"/>
            <a:ext cx="2743200" cy="48920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9944" y="1572768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1691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</a:rPr>
              <a:t>📷  Sensing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12140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ArduCam 8MP IMX219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48716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Downward-facing at ~350 mm height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28529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Lane detection + AprilTag at 20 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321868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320×240 px processing resolution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17736" y="1572768"/>
            <a:ext cx="2743200" cy="48920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7736" y="1572768"/>
            <a:ext cx="27432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54896" y="1691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</a:rPr>
              <a:t>🖥️  Compute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212140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Raspberry Pi 5 on each robot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9176" y="248716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Full autonomy stack on-device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28529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No cloud, no ROS at 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9176" y="321868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 C++ OBU + Python vision in parallel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583680"/>
            <a:ext cx="1088136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675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B8A6"/>
                </a:solidFill>
              </a:rPr>
              <a:t>20 Hz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70591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MOTOR CONTROL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6675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70591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HARDWARE ENCODERS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6675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RTOS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70591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GUARANTEED TIMING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6675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</a:rPr>
              <a:t>Custom PCB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70591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STM32F405 FABRICATED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6675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</a:rPr>
              <a:t>Pi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70591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ON-DEVICE COMPUTE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Two Systems. One Integration.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3657600" cy="42062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36576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LAPTOP / DESKTOP 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8483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Desktop server (Flask + WebSocket)  :5000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230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Issues cryptographic keys to all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79775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Runs the live authentication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27247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RSU binary (C++)  —  UDP :5000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1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Authenticates OBU packets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2219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Broadcasts EMERGENCY_ACTIVE → :5001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53128" y="1572768"/>
            <a:ext cx="3657600" cy="42062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53128" y="1572768"/>
            <a:ext cx="36576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CAR Pi  (v2x-car-01)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08483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Camera → lane follower → emergency handler → motors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43230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OBU subprocess (C++) — authenticates with RSU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779775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RSU alert listener  UDP :5001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127247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Position broadcaster  UDP :5002 ↔ ambulance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47471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Heartbeat → laptop every 15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82219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MJPEG vision stream  :5005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11896" y="1572768"/>
            <a:ext cx="3657600" cy="42062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11896" y="1572768"/>
            <a:ext cx="36576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AMBULANCE Pi  (v2x-emgy)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208483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Camera → lane follower → drives straight 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243230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OBU re-authenticates every ~2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2779775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Posts is_emergency: true → keeps ACTIVE alive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3127247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Position broadcaster  UDP :5002 ↔ 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347471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Heartbeat → laptop every 15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382219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↳  MJPEG vision stream  :5005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897880"/>
            <a:ext cx="10972800" cy="685800"/>
          </a:xfrm>
          <a:prstGeom prst="rect">
            <a:avLst/>
          </a:prstGeom>
          <a:solidFill>
            <a:srgbClr val="06091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035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Startup order:   ① Desktop server   →   ② RSU binary   →   ③ Car Pi   →   ④ Ambulance 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V2X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32-Step Mutual Authentication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329184" cy="3291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6276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Registration (one-time)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Desktop generates EC P-256 keypairs. Issues RID, AID, SK, PK_self, PK_RSU to each OBU.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22576"/>
            <a:ext cx="329184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042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2860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AuthRequest  —  Ambulance OBU → RSU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54203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PID | timestamp | ECDH_encapsulate(PK_RSU) | ECDSA_sign(SK)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80944"/>
            <a:ext cx="329184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944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RSU validates + derives session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2004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Timestamp ±500ms check → ECDSA verify → ECDH decapsulate → HKDF → SK_enc + SK_mac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39312"/>
            <a:ext cx="329184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210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6027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Mutual key confirmation KC1 / KC2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8587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Both sides prove they derived the same session keys — mutual authentication.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97680"/>
            <a:ext cx="329184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7939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1A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2611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Post-auth AES-256-GCM 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5171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{"entity_id": "V2X_EMGY", "is_emergency": true}  →  RSU broadcasts EMERGENCY_ACTIVE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572768"/>
            <a:ext cx="4617720" cy="3657600"/>
          </a:xfrm>
          <a:prstGeom prst="rect">
            <a:avLst/>
          </a:prstGeom>
          <a:solidFill>
            <a:srgbClr val="06090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16916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WHY EACH MECHANISM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Timestamp ±500ms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Prevents replay attacks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4414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ECDSA signature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4414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Prevents packet forgery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8254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ECDH encapsulation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8254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Prevents man-in-the-middle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2095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AES-256-GCM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209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Prevents eavesdropping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5935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HMAC-SHA-256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5935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Prevents ciphertext bit-flip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977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KC1/KC2 exchange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977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Ensures mutual key confirmation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49240"/>
            <a:ext cx="1088136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4681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4B8A6"/>
                </a:solidFill>
              </a:rPr>
              <a:t>9.4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795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AUTH LATENCY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4681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8FAFC"/>
                </a:solidFill>
              </a:rPr>
              <a:t>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8795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PROTOCOL STEPS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54681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</a:rPr>
              <a:t>~2 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58795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RE-AUTH 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EMERGENCY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Two Independent Signals Must Both Be True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5349240" cy="3749039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534924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🔐  SIGNAL A — V2X Authentication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"WHO is the emergency"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9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</a:rPr>
              <a:t>Ambulance OBU generates AuthRequest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243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→  RSU validates (ECDSA + timestamp)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95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→  ECDH session keys derived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→  Post-auth: is_emergency: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19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→  RSU broadcasts EMERGENCY_ACTIVE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85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→  UDP to 192.168.0.255:5001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502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→  Car receives, sets _emergency = 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572768"/>
            <a:ext cx="5349240" cy="3749039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572768"/>
            <a:ext cx="5349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📡  SIGNAL B — Direct Position Sharing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299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"WHERE is the ambulance — no laptop needed"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59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</a:rPr>
              <a:t>Ambulance reads AprilTag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243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B8A6"/>
                </a:solidFill>
              </a:rPr>
              <a:t>→  JSON: {role: ambulance, zone: 7}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895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B8A6"/>
                </a:solidFill>
              </a:rPr>
              <a:t>→  UDP broadcast 192.168.0.255:5002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54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B8A6"/>
                </a:solidFill>
              </a:rPr>
              <a:t>→  10 Hz  —  purely Pi-to-Pi WiFi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419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→  Car stores amb_zone =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685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B8A6"/>
                </a:solidFill>
              </a:rPr>
              <a:t>→  Freshness check: &lt; 3 s 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9502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B8A6"/>
                </a:solidFill>
              </a:rPr>
              <a:t>→  _position_known() = True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440680"/>
            <a:ext cx="10927080" cy="1143000"/>
          </a:xfrm>
          <a:prstGeom prst="rect">
            <a:avLst/>
          </a:prstGeom>
          <a:solidFill>
            <a:srgbClr val="06091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YIELD DECISION: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532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No V2X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Follow lane normally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532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V2X active, no position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Wait for position fix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5532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Both active + amb ≤ 3 zones behind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YIELD TRIGGERED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EMERGENCY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5-State Yield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2103120" cy="594360"/>
          </a:xfrm>
          <a:prstGeom prst="rect">
            <a:avLst/>
          </a:prstGeom>
          <a:solidFill>
            <a:srgbClr val="04180B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600200"/>
            <a:ext cx="2103120" cy="594360"/>
          </a:xfrm>
          <a:prstGeom prst="rect">
            <a:avLst/>
          </a:prstGeom>
          <a:solidFill>
            <a:srgbClr val="1E140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EVADING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600200"/>
            <a:ext cx="2103120" cy="594360"/>
          </a:xfrm>
          <a:prstGeom prst="rect">
            <a:avLst/>
          </a:prstGeom>
          <a:solidFill>
            <a:srgbClr val="1E0606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</a:rPr>
              <a:t>HOLDING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600200"/>
            <a:ext cx="2103120" cy="594360"/>
          </a:xfrm>
          <a:prstGeom prst="rect">
            <a:avLst/>
          </a:prstGeom>
          <a:solidFill>
            <a:srgbClr val="061027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RECOVERING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38360" y="1600200"/>
            <a:ext cx="2103120" cy="594360"/>
          </a:xfrm>
          <a:prstGeom prst="rect">
            <a:avLst/>
          </a:prstGeom>
          <a:solidFill>
            <a:srgbClr val="031E1B"/>
          </a:solidFill>
          <a:ln w="952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B8A6"/>
                </a:solidFill>
              </a:rPr>
              <a:t>RESUMING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377440"/>
            <a:ext cx="2788920" cy="35204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2377440"/>
            <a:ext cx="2788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EVADING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2834640"/>
            <a:ext cx="257860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Turns right toward inner island (yellow line).
Proportional yellow-repel steering.
Exits when yellow line detected or 2 s timer fires.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38728" y="2377440"/>
            <a:ext cx="2788920" cy="35204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38728" y="2377440"/>
            <a:ext cx="27889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48456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HOLDING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8456" y="2834640"/>
            <a:ext cx="257860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Creeps slowly along inner island wall.
Exits when: ambulance passes (amb_zone &gt; own_zone)
+ 1 s grace period  OR  V2X clears  OR  30 s timeout.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3096" y="2377440"/>
            <a:ext cx="2788920" cy="35204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83096" y="2377440"/>
            <a:ext cx="2788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RECOVERING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2824" y="2834640"/>
            <a:ext cx="257860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Arcs left back toward white line.
Gyro mode: exits at 30° of measured yaw rotation.
Timer fallback if IMU data is noisy.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27464" y="2377440"/>
            <a:ext cx="2788920" cy="35204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27464" y="2377440"/>
            <a:ext cx="27889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RESUMING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7192" y="2834640"/>
            <a:ext cx="257860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Ramps speed 0 → normal over 2 s.
Smooth re-entry to full-speed lane following.
No jerk — gradual velocity ramp.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5989320"/>
            <a:ext cx="10927080" cy="658368"/>
          </a:xfrm>
          <a:prstGeom prst="rect">
            <a:avLst/>
          </a:prstGeom>
          <a:solidFill>
            <a:srgbClr val="06091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080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Key: while HOLDING the car uses its frozen last-known zone + the ambulance's live UDP zone stream to detect when the ambulance has passed — no inner tags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Real-Time Lane Following at 20 Hz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6276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Grab 320×240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8745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Camera faces DOWN at the track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11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311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Crop top 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780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Remove far-field perspective distortion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834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HSV threshold — white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815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Find centroid X of largest white contour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3814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438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Proportional steering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6850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wz = −kP × (centroid_x − centre) / (width/2)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416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0416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Yellow repulsion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28853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Override steering if yellow boundary too 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4515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6451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Detect AprilTag (every 3rd frame)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89204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Update zone → broadcast to peer via UDP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572768"/>
            <a:ext cx="4800600" cy="3291840"/>
          </a:xfrm>
          <a:prstGeom prst="rect">
            <a:avLst/>
          </a:prstGeom>
          <a:solidFill>
            <a:srgbClr val="06090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691640"/>
            <a:ext cx="45262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LIVE VISION STREAM  http://robot-ip:5005/</a:t>
            </a:r>
          </a:p>
          <a:p>
            <a:r>
              <a:rPr sz="800">
                <a:solidFill>
                  <a:srgbClr val="1E3A5F"/>
                </a:solidFill>
              </a:rPr>
              <a:t>─────────────────────────────────────────</a:t>
            </a:r>
          </a:p>
          <a:p>
            <a:r>
              <a:rPr sz="900">
                <a:solidFill>
                  <a:srgbClr val="E2E8F0"/>
                </a:solidFill>
              </a:rPr>
              <a:t> V2X_CAR_01                    23:14:05</a:t>
            </a:r>
          </a:p>
          <a:p>
            <a:r>
              <a:rPr sz="900">
                <a:solidFill>
                  <a:srgbClr val="E2E8F0"/>
                </a:solidFill>
              </a:rPr>
              <a:t> [Full camera frame 640px wide]</a:t>
            </a:r>
          </a:p>
          <a:p>
            <a:r>
              <a:rPr sz="800">
                <a:solidFill>
                  <a:srgbClr val="1E3A5F"/>
                </a:solidFill>
              </a:rPr>
              <a:t> ─── crop boundary ───────────────────</a:t>
            </a:r>
          </a:p>
          <a:p>
            <a:r>
              <a:rPr sz="900">
                <a:solidFill>
                  <a:srgbClr val="E2E8F0"/>
                </a:solidFill>
              </a:rPr>
              <a:t> [LANE overlay]  │  [HSV MASK]</a:t>
            </a:r>
          </a:p>
          <a:p>
            <a:r>
              <a:rPr sz="900">
                <a:solidFill>
                  <a:srgbClr val="E2E8F0"/>
                </a:solidFill>
              </a:rPr>
              <a:t>  green=centre   │   grey  = white px</a:t>
            </a:r>
          </a:p>
          <a:p>
            <a:r>
              <a:rPr sz="900">
                <a:solidFill>
                  <a:srgbClr val="E2E8F0"/>
                </a:solidFill>
              </a:rPr>
              <a:t>  red=centroid   │   yellow= yellow px</a:t>
            </a:r>
          </a:p>
          <a:p>
            <a:r>
              <a:rPr sz="800">
                <a:solidFill>
                  <a:srgbClr val="1E3A5F"/>
                </a:solidFill>
              </a:rPr>
              <a:t>──────────────────────────────────────</a:t>
            </a:r>
          </a:p>
          <a:p>
            <a:r>
              <a:rPr sz="900">
                <a:solidFill>
                  <a:srgbClr val="14B8A6"/>
                </a:solidFill>
              </a:rPr>
              <a:t> CAR z=3  AMB z=7  vx=0.20  NORMAL</a:t>
            </a:r>
          </a:p>
          <a:p>
            <a:r>
              <a:rPr sz="900" b="1">
                <a:solidFill>
                  <a:srgbClr val="22C55E"/>
                </a:solidFill>
              </a:rPr>
              <a:t> ARMED  AUTO  V2X:ACTIVE  PI:52.3°C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4983480"/>
            <a:ext cx="4800600" cy="160020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3 SWAPPABLE ALGORITHMS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376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centroid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669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Production default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376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pure pursuit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5669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Geometric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9256" y="5376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recorded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9256" y="5669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Replay motor commands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943600"/>
            <a:ext cx="5989320" cy="685800"/>
          </a:xfrm>
          <a:prstGeom prst="rect">
            <a:avLst/>
          </a:prstGeom>
          <a:solidFill>
            <a:srgbClr val="06091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05332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Failure modes are always safe:  no white &gt;4s → slow  ·  no white &gt;8s → stop  ·  no position → wait  ·  V2X drops → stop yielding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HUMAN-MACHINE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Real-Time WebSocket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5486400" cy="4389120"/>
          </a:xfrm>
          <a:prstGeom prst="rect">
            <a:avLst/>
          </a:prstGeom>
          <a:solidFill>
            <a:srgbClr val="06090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21208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  V2X AUTHENTICATION DASHBOARD</a:t>
            </a:r>
          </a:p>
          <a:p>
            <a:r>
              <a:rPr sz="800">
                <a:solidFill>
                  <a:srgbClr val="1E3A5F"/>
                </a:solidFill>
              </a:rPr>
              <a:t>  ─────────────────────────────────────────────</a:t>
            </a:r>
          </a:p>
          <a:p>
            <a:r>
              <a:rPr sz="1100" b="1">
                <a:solidFill>
                  <a:srgbClr val="22C55E"/>
                </a:solidFill>
              </a:rPr>
              <a:t>  ENTITIES: 3     (RSU · V2X · V2X_EMGY)</a:t>
            </a:r>
          </a:p>
          <a:p>
            <a:r>
              <a:rPr sz="1000">
                <a:solidFill>
                  <a:srgbClr val="E2E8F0"/>
                </a:solidFill>
              </a:rPr>
              <a:t/>
            </a:r>
          </a:p>
          <a:p>
            <a:r>
              <a:rPr sz="1000">
                <a:solidFill>
                  <a:srgbClr val="22C55E"/>
                </a:solidFill>
              </a:rPr>
              <a:t>  ●  RSU         ONLINE    —    No</a:t>
            </a:r>
          </a:p>
          <a:p>
            <a:r>
              <a:rPr sz="1000">
                <a:solidFill>
                  <a:srgbClr val="22C55E"/>
                </a:solidFill>
              </a:rPr>
              <a:t>  ●  V2X         ONLINE    —    No</a:t>
            </a:r>
          </a:p>
          <a:p>
            <a:r>
              <a:rPr sz="1000">
                <a:solidFill>
                  <a:srgbClr val="EF4444"/>
                </a:solidFill>
              </a:rPr>
              <a:t>  ●  V2X_EMGY   ONLINE    🚑   Yes</a:t>
            </a:r>
          </a:p>
          <a:p>
            <a:r>
              <a:rPr sz="1000">
                <a:solidFill>
                  <a:srgbClr val="E2E8F0"/>
                </a:solidFill>
              </a:rPr>
              <a:t/>
            </a:r>
          </a:p>
          <a:p>
            <a:r>
              <a:rPr sz="1000">
                <a:solidFill>
                  <a:srgbClr val="F59E0B"/>
                </a:solidFill>
              </a:rPr>
              <a:t>  EMERGENCY PRIORITY GRANTS:   147</a:t>
            </a:r>
          </a:p>
          <a:p>
            <a:r>
              <a:rPr sz="1000">
                <a:solidFill>
                  <a:srgbClr val="E2E8F0"/>
                </a:solidFill>
              </a:rPr>
              <a:t>  SESSION_ESTABLISHED:          12</a:t>
            </a:r>
          </a:p>
          <a:p>
            <a:r>
              <a:rPr sz="1000">
                <a:solidFill>
                  <a:srgbClr val="E2E8F0"/>
                </a:solidFill>
              </a:rPr>
              <a:t>  POST_AUTH_HMAC_FAIL:           0</a:t>
            </a:r>
          </a:p>
          <a:p>
            <a:r>
              <a:rPr sz="1000">
                <a:solidFill>
                  <a:srgbClr val="E2E8F0"/>
                </a:solidFill>
              </a:rPr>
              <a:t>  FAILURES:                      0</a:t>
            </a:r>
          </a:p>
          <a:p>
            <a:r>
              <a:rPr sz="1000">
                <a:solidFill>
                  <a:srgbClr val="14B8A6"/>
                </a:solidFill>
              </a:rPr>
              <a:t>  AVG AUTH LATENCY:           9.4 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72768"/>
            <a:ext cx="5212080" cy="438912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WHAT THE DASHBOARD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84831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  •  All entities online/offline with heartbeat watchdog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50591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  •  Emergency flag per entity — live via WebSocket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1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  •  Session event counts — no page refresh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82111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  •  Authentication latency — rolling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547871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  •  POST_AUTH_HMAC_FAIL — instant failure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913631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  •  Entity marks OFFLINE within ~50 s of crash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79391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  •  SQLite audit log — full event history on disk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035040"/>
            <a:ext cx="1088136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144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</a:rPr>
              <a:t>WebSocket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LIVE PUSH, NO REFRESH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6144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</a:rPr>
              <a:t>10 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6492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POSITION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6144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6492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6144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MJPEG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6492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VISION STREAM :5005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6144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50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6492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OFFLINE WATCHDOG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FUTURE-PROOFING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Post-Quantum Cryptography — Interface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Classical ECDSA and ECDH are breakable by Shor's algorithm on a quantum computer.
This platform abstracts all cryptography behind a single interface — switching to post-quantum
requires changing one line in a config file. The 32-step protocol does not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487168"/>
            <a:ext cx="5349240" cy="2331720"/>
          </a:xfrm>
          <a:prstGeom prst="rect">
            <a:avLst/>
          </a:prstGeom>
          <a:solidFill>
            <a:srgbClr val="06090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507492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ourier New"/>
              </a:rPr>
              <a:t>// crypto_provider.h — pure virtual interface</a:t>
            </a:r>
          </a:p>
          <a:p>
            <a:r>
              <a:rPr sz="1000">
                <a:solidFill>
                  <a:srgbClr val="2563EB"/>
                </a:solidFill>
                <a:latin typeface="Courier New"/>
              </a:rPr>
              <a:t>virtual encapsulate();</a:t>
            </a:r>
          </a:p>
          <a:p>
            <a:r>
              <a:rPr sz="1000">
                <a:solidFill>
                  <a:srgbClr val="2563EB"/>
                </a:solidFill>
                <a:latin typeface="Courier New"/>
              </a:rPr>
              <a:t>virtual decapsulate();</a:t>
            </a:r>
          </a:p>
          <a:p>
            <a:r>
              <a:rPr sz="1000">
                <a:solidFill>
                  <a:srgbClr val="2563EB"/>
                </a:solidFill>
                <a:latin typeface="Courier New"/>
              </a:rPr>
              <a:t>virtual sign();</a:t>
            </a:r>
          </a:p>
          <a:p>
            <a:r>
              <a:rPr sz="1000">
                <a:solidFill>
                  <a:srgbClr val="2563EB"/>
                </a:solidFill>
                <a:latin typeface="Courier New"/>
              </a:rPr>
              <a:t>virtual verify();</a:t>
            </a:r>
          </a:p>
          <a:p>
            <a:r>
              <a:rPr sz="1000">
                <a:solidFill>
                  <a:srgbClr val="2563EB"/>
                </a:solidFill>
                <a:latin typeface="Courier New"/>
              </a:rPr>
              <a:t>virtual derive_keys();</a:t>
            </a:r>
          </a:p>
          <a:p>
            <a:r>
              <a:rPr sz="1000">
                <a:solidFill>
                  <a:srgbClr val="F8FAF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64748B"/>
                </a:solidFill>
                <a:latin typeface="Courier New"/>
              </a:rPr>
              <a:t>// rsu_config.json — one line to switch:</a:t>
            </a:r>
          </a:p>
          <a:p>
            <a:r>
              <a:rPr sz="1000">
                <a:solidFill>
                  <a:srgbClr val="22C55E"/>
                </a:solidFill>
                <a:latin typeface="Courier New"/>
              </a:rPr>
              <a:t>"crypto_provider": "lattice"  // was: "placeholder"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892040"/>
            <a:ext cx="5349240" cy="169164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109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PLANNED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218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CRYSTALS-Dilithium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3218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Replaces ECDSA signatures  (NIST FIPS 204)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69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CRYSTALS-Kyber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669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Replaces ECDH key encapsulation  (NIST FIPS 203)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167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LWE-based hardness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0167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Resistant to Shor's algorithm on quantum computers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487168"/>
            <a:ext cx="5349240" cy="411480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6060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ALL SWAPPABLE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44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Lane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9443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centroid / pure pursuit / recorded-path — one line in config.yaml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4015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Motor 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4015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Lyra protocol over UART — retarget firmware without touching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58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AprilTag layout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8587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n_inner_tags / n_outer_tags — yield logic adapts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315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Crypto provider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3159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placeholder (ECDH) → lattice (Kyber) — one JSON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73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Robot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7731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Multiple cars + multiple ambulances — all work simultaneously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Ten Engineering Domains. One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82496"/>
            <a:ext cx="54864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Embedded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STM32F405, RTOS, hardware encoders × 4, custom-designed PCB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49424"/>
            <a:ext cx="54864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Computer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414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Real-time lane detection + AprilTag localisation under real lighting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16352"/>
            <a:ext cx="54864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614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Robotics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083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5-state emergency evasion, closed-loop velocity, 3 swappable algorithms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83280"/>
            <a:ext cx="54864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2841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V2X Networking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7530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OBU/RSU architecture, 32-step mutual auth, UDP broadcast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50208"/>
            <a:ext cx="54864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Applied Cryptography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422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ECDH, ECDSA, HKDF, AES-256-GCM, HMAC-SHA-256, PQ interface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682496"/>
            <a:ext cx="54864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276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Distributed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8745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Multi-node coordination — no central controller, peer failure tolerant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249424"/>
            <a:ext cx="54864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1945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Real-Time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4414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20 Hz RTOS motor loop, never preempted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816352"/>
            <a:ext cx="54864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7614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HMI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0083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WebSocket dashboard, MJPEG video stream with live telemetry overlay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383280"/>
            <a:ext cx="54864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32841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Edge Computing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57530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Full stack on Raspberry Pi 5 — no cloud at runtime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950208"/>
            <a:ext cx="54864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8953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Autonomous Navigation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1422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Centroid, pure pursuit, recorded-path — tunable per deployment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5961888"/>
            <a:ext cx="10927080" cy="658368"/>
          </a:xfrm>
          <a:prstGeom prst="rect">
            <a:avLst/>
          </a:prstGeom>
          <a:solidFill>
            <a:srgbClr val="0D192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0533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</a:rPr>
              <a:t>This platform contains enough material for four independent final-year projects. This work required all four to exist simultaneously and operate as a single 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What's Live. What's Next.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5349240" cy="4846320"/>
          </a:xfrm>
          <a:prstGeom prst="rect">
            <a:avLst/>
          </a:prstGeom>
          <a:solidFill>
            <a:srgbClr val="06090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OPERATIONAL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V2X Auth — 32-step mutual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0848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2C55E"/>
                </a:solidFill>
              </a:rP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7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Robot mobility — lane following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2C55E"/>
                </a:solidFill>
              </a:rP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2927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Emergency evasion — 5-state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529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2C55E"/>
                </a:solidFill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36975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Real-time WebSocket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3697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2C55E"/>
                </a:solidFill>
              </a:rPr>
              <a:t>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2102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Gyro-based RECOVERING exit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210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2C55E"/>
                </a:solidFill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0507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Dead-reckoning position (encoders)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00507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2C55E"/>
                </a:solidFill>
              </a:rP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8911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End-to-end auth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891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4B8A6"/>
                </a:solidFill>
              </a:rPr>
              <a:t>9.4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73167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Post-quantum — LatticeProvider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77316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</a:rPr>
              <a:t>Interface 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572768"/>
            <a:ext cx="5349240" cy="4846320"/>
          </a:xfrm>
          <a:prstGeom prst="rect">
            <a:avLst/>
          </a:prstGeom>
          <a:solidFill>
            <a:srgbClr val="1C28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7190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FOUR TARGETED IMPROVEMENTS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121407"/>
            <a:ext cx="310896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103119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A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08483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Geometry-based RECOVERING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35915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Integrate gyro_z from STM32 to measure actual degrees turned (30°) instead of waiting for a timer.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990087"/>
            <a:ext cx="310896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971799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A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95351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Dead-reckoning between tags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22783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Continuous position from wheel encoder ticks; resets on every AprilTag sighting.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858767"/>
            <a:ext cx="310896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840479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A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82219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Variable crop ratio by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09651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NORMAL: 40%  ·  EVADING: 20%  ·  RECOVERING: 0%  — wider view during manoeuvres.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727447"/>
            <a:ext cx="310896" cy="3108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709159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A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69087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Post-quantum — Kyber + Dilithium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96519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Plug into existing LatticeProvider interface. Protocol unchanged.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925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No new hardware required for improvements 1–3. STM32 already sends gyro_z and wheel_ticks[4].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</a:rPr>
              <a:t>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61872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FAFC"/>
                </a:solidFill>
              </a:rPr>
              <a:t>This project demonstrates authenticated V2X emergency
vehicle priority — from cryptographic session establishment
to physical lane evasion — on autonomous vehicles operating
in the real world, on real hardware, with no simulation and
no human intervention at any stage.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343400"/>
            <a:ext cx="667512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</a:rPr>
              <a:t>The cryptography is invisible to someone standing at the side of the table.
What is visible is: the car moves, the ambulance passes, the car resumes.
Nobody is thinking about the mathematics. They are thinking:  this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Siliris Technologies Pvt. Ltd.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